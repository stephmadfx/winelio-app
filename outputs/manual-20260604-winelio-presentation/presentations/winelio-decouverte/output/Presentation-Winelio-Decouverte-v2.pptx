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Ouvrir simplement : Winelio part d'une idee connue de tous, recommander une bonne personne, mais la structure et la remunere proprement.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lever la main mentalement : qui a deja recommande un artisan ? Winelio ne cree pas un comportement artificiel, il l'organise.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pas dramatiser : le bouche-a-oreille existe, mais il fuit. Winelio met un cadre clair et suivi.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en 4 temps, sans entrer encore dans le reseau. La personne doit d'abord comprendre le geste de recommandation.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public etant melange, cette slide permet a chacun de se situer sans exclure personne.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Rendre la mecanique concrete : une conversation devient un dossier suivi.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l'etape 6 : on parle de commissions quand une vraie affaire avance, pas au simple clic.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Poser le cadre ethique : complement de revenu, effort, regularite, qualite des recommandations.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la repartition simplement. Attention : reseau a 3% par niveau, pas 5%. La plateforme garde la part d'equilibre.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Introduire le reseau sans jargon. Ce n'est pas la premiere chose a vendre : c'est l'effet de duplication d'une methode claire.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Exemple volontairement raisonnable. Ne jamais promettre un revenu fixe : parler d'hypotheses, d'activite et de qualite.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Cliquer vers la page de simulation si elle est disponible. Sinon expliquer que la page peut etre ajoutee comme outil d'animation.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Ramener l'audience sur la qualite. Winelio n'est pas un spam de liens, c'est une recommandation utile.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S'adresser aux pros presents : on ne leur vend pas une charge, mais un canal d'affaires qualifie.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une maquette de lecture : le parrain comprend ou regarder sans entrer dans tous les details de l'app.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slide respecte la regle : chacun demande le QR au parrain, on ne diffuse pas un QR unique sur l'ecran.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Reboucler la presentation avant l'appel a l'action. Simple, propre, concret.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Appel a l'action final. Thierry peut inviter les personnes interessees a venir le voir individuellement pour scanner son QR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ev2.winelio.app/simulateur-gains" TargetMode="Externa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436"/>
          </a:solidFill>
          <a:ln w="12700">
            <a:solidFill>
              <a:srgbClr val="2D34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0584"/>
            <a:ext cx="12191695" cy="45720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pic>
        <p:nvPicPr>
          <p:cNvPr id="5" name="Image 0" descr="/Users/steph/PROJETS/WINELIO/winelio/public/logo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75488"/>
            <a:ext cx="1874520" cy="5154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" y="14813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decouverte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" y="188366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Winelio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03504" y="2761488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F2F4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Recommander les bons professionnels. Generer un complement de revenu. Faire grandir un reseau de confiance.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8321040" y="1508760"/>
            <a:ext cx="1280160" cy="1645920"/>
          </a:xfrm>
          <a:prstGeom prst="chevro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89720" y="2212848"/>
            <a:ext cx="1280160" cy="1645920"/>
          </a:xfrm>
          <a:prstGeom prst="chevron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985248" y="2916936"/>
            <a:ext cx="1280160" cy="1645920"/>
          </a:xfrm>
          <a:prstGeom prst="chevron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ED6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18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 w="12700">
            <a:solidFill>
              <a:srgbClr val="FF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235440" y="-1143000"/>
            <a:ext cx="3840480" cy="3840480"/>
          </a:xfrm>
          <a:prstGeom prst="arc">
            <a:avLst/>
          </a:prstGeom>
          <a:solidFill>
            <a:srgbClr val="F7931E">
              <a:alpha val="18000"/>
            </a:srgbClr>
          </a:solidFill>
          <a:ln w="12700">
            <a:solidFill>
              <a:srgbClr val="F793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600000">
            <a:off x="-914400" y="5166360"/>
            <a:ext cx="2926080" cy="2926080"/>
          </a:xfrm>
          <a:prstGeom prst="arc">
            <a:avLst/>
          </a:prstGeom>
          <a:solidFill>
            <a:srgbClr val="FF6B35">
              <a:alpha val="14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pic>
        <p:nvPicPr>
          <p:cNvPr id="5" name="Image 0" descr="/Users/steph/PROJETS/WINELIO/winelio/public/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DE DEPART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D34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Tout le monde recommande deja des professionnels.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621792" y="2057400"/>
            <a:ext cx="457200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plombier fiable, un artisan serieux, une entreprise qui tient ses promesses : ces recommandations circulent deja tous les jours.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400800" y="1874520"/>
            <a:ext cx="914400" cy="9144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44768" y="288036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Famille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75320" y="1874520"/>
            <a:ext cx="914400" cy="914400"/>
          </a:xfrm>
          <a:prstGeom prst="ellipse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19288" y="288036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Voisins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0" y="3200400"/>
            <a:ext cx="914400" cy="914400"/>
          </a:xfrm>
          <a:prstGeom prst="ellipse">
            <a:avLst/>
          </a:prstGeom>
          <a:solidFill>
            <a:srgbClr val="2C7BE5"/>
          </a:solidFill>
          <a:ln w="12700">
            <a:solidFill>
              <a:srgbClr val="2C7B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44768" y="420624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75320" y="3200400"/>
            <a:ext cx="914400" cy="914400"/>
          </a:xfrm>
          <a:prstGeom prst="ellipse">
            <a:avLst/>
          </a:prstGeom>
          <a:solidFill>
            <a:srgbClr val="1F9D73"/>
          </a:solidFill>
          <a:ln w="12700">
            <a:solidFill>
              <a:srgbClr val="1F9D7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19288" y="420624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Collegues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406640" y="2761488"/>
            <a:ext cx="685800" cy="0"/>
          </a:xfrm>
          <a:prstGeom prst="line">
            <a:avLst/>
          </a:prstGeom>
          <a:noFill/>
          <a:ln w="15240">
            <a:solidFill>
              <a:srgbClr val="636E72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229600" y="2423160"/>
            <a:ext cx="-822960" cy="0"/>
          </a:xfrm>
          <a:prstGeom prst="line">
            <a:avLst/>
          </a:prstGeom>
          <a:noFill/>
          <a:ln w="15240">
            <a:solidFill>
              <a:srgbClr val="636E72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8275320" y="3749040"/>
            <a:ext cx="548640" cy="-685800"/>
          </a:xfrm>
          <a:prstGeom prst="line">
            <a:avLst/>
          </a:prstGeom>
          <a:noFill/>
          <a:ln w="15240">
            <a:solidFill>
              <a:srgbClr val="636E72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21792" y="5065776"/>
            <a:ext cx="3383280" cy="402336"/>
          </a:xfrm>
          <a:prstGeom prst="roundRect">
            <a:avLst>
              <a:gd name="adj" fmla="val 18182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9808" y="5175504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 organise ce bouche-a-oreille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18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 w="12700">
            <a:solidFill>
              <a:srgbClr val="FF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235440" y="-1143000"/>
            <a:ext cx="3840480" cy="3840480"/>
          </a:xfrm>
          <a:prstGeom prst="arc">
            <a:avLst/>
          </a:prstGeom>
          <a:solidFill>
            <a:srgbClr val="F7931E">
              <a:alpha val="18000"/>
            </a:srgbClr>
          </a:solidFill>
          <a:ln w="12700">
            <a:solidFill>
              <a:srgbClr val="F793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600000">
            <a:off x="-914400" y="5166360"/>
            <a:ext cx="2926080" cy="2926080"/>
          </a:xfrm>
          <a:prstGeom prst="arc">
            <a:avLst/>
          </a:prstGeom>
          <a:solidFill>
            <a:srgbClr val="FF6B35">
              <a:alpha val="14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pic>
        <p:nvPicPr>
          <p:cNvPr id="5" name="Image 0" descr="/Users/steph/PROJETS/WINELIO/winelio/public/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PROBLEME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D34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Aujourd'hui, la valeur de la recommandation est rarement reconnue.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658368" y="1965960"/>
            <a:ext cx="82296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9476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confiance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291840" y="195681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 donnee gratuitement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58368" y="2926080"/>
            <a:ext cx="82296" cy="502920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9077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professionnel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291840" y="291693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gagne un nouveau client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58368" y="3886200"/>
            <a:ext cx="82296" cy="502920"/>
          </a:xfrm>
          <a:prstGeom prst="rect">
            <a:avLst/>
          </a:prstGeom>
          <a:solidFill>
            <a:srgbClr val="636E72"/>
          </a:solidFill>
          <a:ln w="12700">
            <a:solidFill>
              <a:srgbClr val="636E7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38679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personne qui recommande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291840" y="38770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n'a souvent aucun suivi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909560" y="1828800"/>
            <a:ext cx="310896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21040" y="22402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553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 EUR</a:t>
            </a:r>
            <a:endParaRPr lang="en-US" sz="2900" dirty="0"/>
          </a:p>
        </p:txBody>
      </p:sp>
      <p:sp>
        <p:nvSpPr>
          <p:cNvPr id="19" name="Text 16"/>
          <p:cNvSpPr/>
          <p:nvPr/>
        </p:nvSpPr>
        <p:spPr>
          <a:xfrm>
            <a:off x="8321040" y="27340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 une recommandation non structuree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211312" y="3273552"/>
            <a:ext cx="25146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 transforme une mise en relation utile en parcours suivi, mesurable et remunere.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18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 w="12700">
            <a:solidFill>
              <a:srgbClr val="FF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235440" y="-1143000"/>
            <a:ext cx="3840480" cy="3840480"/>
          </a:xfrm>
          <a:prstGeom prst="arc">
            <a:avLst/>
          </a:prstGeom>
          <a:solidFill>
            <a:srgbClr val="F7931E">
              <a:alpha val="18000"/>
            </a:srgbClr>
          </a:solidFill>
          <a:ln w="12700">
            <a:solidFill>
              <a:srgbClr val="F793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600000">
            <a:off x="-914400" y="5166360"/>
            <a:ext cx="2926080" cy="2926080"/>
          </a:xfrm>
          <a:prstGeom prst="arc">
            <a:avLst/>
          </a:prstGeom>
          <a:solidFill>
            <a:srgbClr val="FF6B35">
              <a:alpha val="14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pic>
        <p:nvPicPr>
          <p:cNvPr id="5" name="Image 0" descr="/Users/steph/PROJETS/WINELIO/winelio/public/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SOLUTION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D34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plateforme simple pour recommander, suivre et etre recompense.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731520" y="2057400"/>
            <a:ext cx="21488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96112" y="2267712"/>
            <a:ext cx="384048" cy="3840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14984" y="2340864"/>
            <a:ext cx="137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32688" y="2816352"/>
            <a:ext cx="1691640" cy="4023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 connais un besoin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944368" y="2834640"/>
            <a:ext cx="329184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474720" y="2057400"/>
            <a:ext cx="21488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39312" y="2267712"/>
            <a:ext cx="384048" cy="3840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58184" y="2340864"/>
            <a:ext cx="137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75888" y="2816352"/>
            <a:ext cx="1691640" cy="4023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 recommande un pro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687568" y="2834640"/>
            <a:ext cx="329184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217920" y="2057400"/>
            <a:ext cx="21488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82512" y="2267712"/>
            <a:ext cx="384048" cy="384048"/>
          </a:xfrm>
          <a:prstGeom prst="ellipse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01384" y="2340864"/>
            <a:ext cx="137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19088" y="2816352"/>
            <a:ext cx="1691640" cy="4023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dossier avance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430768" y="2834640"/>
            <a:ext cx="329184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8961120" y="2057400"/>
            <a:ext cx="21488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125712" y="2267712"/>
            <a:ext cx="384048" cy="384048"/>
          </a:xfrm>
          <a:prstGeom prst="ellipse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44584" y="2340864"/>
            <a:ext cx="137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162288" y="2816352"/>
            <a:ext cx="1691640" cy="4023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commission tombe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234440" y="4892040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L'idee centrale : Winelio ne vend pas du reve, Winelio structure une mise en relation qui peut produire de la valeur.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18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 w="12700">
            <a:solidFill>
              <a:srgbClr val="FF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235440" y="-1143000"/>
            <a:ext cx="3840480" cy="3840480"/>
          </a:xfrm>
          <a:prstGeom prst="arc">
            <a:avLst/>
          </a:prstGeom>
          <a:solidFill>
            <a:srgbClr val="F7931E">
              <a:alpha val="18000"/>
            </a:srgbClr>
          </a:solidFill>
          <a:ln w="12700">
            <a:solidFill>
              <a:srgbClr val="F793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600000">
            <a:off x="-914400" y="5166360"/>
            <a:ext cx="2926080" cy="2926080"/>
          </a:xfrm>
          <a:prstGeom prst="arc">
            <a:avLst/>
          </a:prstGeom>
          <a:solidFill>
            <a:srgbClr val="FF6B35">
              <a:alpha val="14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pic>
        <p:nvPicPr>
          <p:cNvPr id="5" name="Image 0" descr="/Users/steph/PROJETS/WINELIO/winelio/public/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 QUI ?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D34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Winelio relie trois profils qui ont chacun quelque chose a gagner.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1645920" y="1856232"/>
            <a:ext cx="1051560" cy="914400"/>
          </a:xfrm>
          <a:prstGeom prst="hexago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3044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parrain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31520" y="3520440"/>
            <a:ext cx="27889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Recommande autour de lui et suit ses dossiers.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303520" y="1856232"/>
            <a:ext cx="1051560" cy="914400"/>
          </a:xfrm>
          <a:prstGeom prst="hexagon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0" y="3044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professionnel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4389120" y="3520440"/>
            <a:ext cx="27889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Recoit des opportunites qualifiees et remunere la recommandation utile.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961120" y="1856232"/>
            <a:ext cx="1051560" cy="914400"/>
          </a:xfrm>
          <a:prstGeom prst="hexagon">
            <a:avLst/>
          </a:prstGeom>
          <a:solidFill>
            <a:srgbClr val="1F9D73"/>
          </a:solidFill>
          <a:ln w="12700">
            <a:solidFill>
              <a:srgbClr val="1F9D7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46720" y="3044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client final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8046720" y="3520440"/>
            <a:ext cx="27889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Trouve plus vite une personne de confiance.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18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 w="12700">
            <a:solidFill>
              <a:srgbClr val="FF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235440" y="-1143000"/>
            <a:ext cx="3840480" cy="3840480"/>
          </a:xfrm>
          <a:prstGeom prst="arc">
            <a:avLst/>
          </a:prstGeom>
          <a:solidFill>
            <a:srgbClr val="F7931E">
              <a:alpha val="18000"/>
            </a:srgbClr>
          </a:solidFill>
          <a:ln w="12700">
            <a:solidFill>
              <a:srgbClr val="F793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600000">
            <a:off x="-914400" y="5166360"/>
            <a:ext cx="2926080" cy="2926080"/>
          </a:xfrm>
          <a:prstGeom prst="arc">
            <a:avLst/>
          </a:prstGeom>
          <a:solidFill>
            <a:srgbClr val="FF6B35">
              <a:alpha val="14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pic>
        <p:nvPicPr>
          <p:cNvPr id="5" name="Image 0" descr="/Users/steph/PROJETS/WINELIO/winelio/public/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CONCRET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D34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recommandation commence souvent par une phrase tres simple.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777240" y="1874520"/>
            <a:ext cx="493776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2423160"/>
            <a:ext cx="41605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"Je connais quelqu'un de fiable pour ton projet. Je peux te mettre en relation."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6492240" y="1691640"/>
            <a:ext cx="4480560" cy="2834640"/>
          </a:xfrm>
          <a:prstGeom prst="roundRect">
            <a:avLst>
              <a:gd name="adj" fmla="val 1935"/>
            </a:avLst>
          </a:prstGeom>
          <a:solidFill>
            <a:srgbClr val="FFF5F0"/>
          </a:solidFill>
          <a:ln w="10160">
            <a:solidFill>
              <a:srgbClr val="FFD3C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1228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Dans Winelio, cette phrase devient :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903720" y="25146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une fiche contact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903720" y="28986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 professionnel choisi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903720" y="32826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 suivi d'etapes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903720" y="36667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une commission calculee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18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 w="12700">
            <a:solidFill>
              <a:srgbClr val="FF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235440" y="-1143000"/>
            <a:ext cx="3840480" cy="3840480"/>
          </a:xfrm>
          <a:prstGeom prst="arc">
            <a:avLst/>
          </a:prstGeom>
          <a:solidFill>
            <a:srgbClr val="F7931E">
              <a:alpha val="18000"/>
            </a:srgbClr>
          </a:solidFill>
          <a:ln w="12700">
            <a:solidFill>
              <a:srgbClr val="F793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600000">
            <a:off x="-914400" y="5166360"/>
            <a:ext cx="2926080" cy="2926080"/>
          </a:xfrm>
          <a:prstGeom prst="arc">
            <a:avLst/>
          </a:prstGeom>
          <a:solidFill>
            <a:srgbClr val="FF6B35">
              <a:alpha val="14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pic>
        <p:nvPicPr>
          <p:cNvPr id="5" name="Image 0" descr="/Users/steph/PROJETS/WINELIO/winelio/public/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D34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8 etapes donnent de la clarte jusqu'a l'affaire terminee.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594360" y="2834640"/>
            <a:ext cx="566928" cy="566928"/>
          </a:xfrm>
          <a:prstGeom prst="ellipse">
            <a:avLst/>
          </a:prstGeom>
          <a:solidFill>
            <a:srgbClr val="FF6B3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2971800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5478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234440" y="3108960"/>
            <a:ext cx="594360" cy="0"/>
          </a:xfrm>
          <a:prstGeom prst="line">
            <a:avLst/>
          </a:prstGeom>
          <a:noFill/>
          <a:ln w="12700">
            <a:solidFill>
              <a:srgbClr val="E7EAED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1984248" y="2834640"/>
            <a:ext cx="566928" cy="566928"/>
          </a:xfrm>
          <a:prstGeom prst="ellipse">
            <a:avLst/>
          </a:prstGeom>
          <a:solidFill>
            <a:srgbClr val="FF6B3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85416" y="2971800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847088" y="35478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624328" y="3108960"/>
            <a:ext cx="594360" cy="0"/>
          </a:xfrm>
          <a:prstGeom prst="line">
            <a:avLst/>
          </a:prstGeom>
          <a:noFill/>
          <a:ln w="12700">
            <a:solidFill>
              <a:srgbClr val="E7EAED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374136" y="2834640"/>
            <a:ext cx="566928" cy="566928"/>
          </a:xfrm>
          <a:prstGeom prst="ellipse">
            <a:avLst/>
          </a:prstGeom>
          <a:solidFill>
            <a:srgbClr val="FF6B3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75304" y="2971800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36976" y="35478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014216" y="3108960"/>
            <a:ext cx="594360" cy="0"/>
          </a:xfrm>
          <a:prstGeom prst="line">
            <a:avLst/>
          </a:prstGeom>
          <a:noFill/>
          <a:ln w="12700">
            <a:solidFill>
              <a:srgbClr val="E7EAED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764024" y="2834640"/>
            <a:ext cx="566928" cy="566928"/>
          </a:xfrm>
          <a:prstGeom prst="ellipse">
            <a:avLst/>
          </a:prstGeom>
          <a:solidFill>
            <a:srgbClr val="FF6B3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65192" y="2971800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626864" y="35478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RDV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404104" y="3108960"/>
            <a:ext cx="594360" cy="0"/>
          </a:xfrm>
          <a:prstGeom prst="line">
            <a:avLst/>
          </a:prstGeom>
          <a:noFill/>
          <a:ln w="12700">
            <a:solidFill>
              <a:srgbClr val="E7EAED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153912" y="2834640"/>
            <a:ext cx="566928" cy="566928"/>
          </a:xfrm>
          <a:prstGeom prst="ellipse">
            <a:avLst/>
          </a:prstGeom>
          <a:solidFill>
            <a:srgbClr val="FF6B3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55080" y="2971800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016752" y="35478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793992" y="3108960"/>
            <a:ext cx="594360" cy="0"/>
          </a:xfrm>
          <a:prstGeom prst="line">
            <a:avLst/>
          </a:prstGeom>
          <a:noFill/>
          <a:ln w="12700">
            <a:solidFill>
              <a:srgbClr val="E7EAED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7543800" y="2834640"/>
            <a:ext cx="566928" cy="566928"/>
          </a:xfrm>
          <a:prstGeom prst="ellipse">
            <a:avLst/>
          </a:prstGeom>
          <a:solidFill>
            <a:srgbClr val="1F9D73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44968" y="2971800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406640" y="35478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Valide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183880" y="3108960"/>
            <a:ext cx="594360" cy="0"/>
          </a:xfrm>
          <a:prstGeom prst="line">
            <a:avLst/>
          </a:prstGeom>
          <a:noFill/>
          <a:ln w="12700">
            <a:solidFill>
              <a:srgbClr val="E7EAED"/>
            </a:solidFill>
            <a:prstDash val="solid"/>
            <a:headEnd type="none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8933688" y="2834640"/>
            <a:ext cx="566928" cy="566928"/>
          </a:xfrm>
          <a:prstGeom prst="ellipse">
            <a:avLst/>
          </a:prstGeom>
          <a:solidFill>
            <a:srgbClr val="F7931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134856" y="2971800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796528" y="35478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Paiement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9573768" y="3108960"/>
            <a:ext cx="594360" cy="0"/>
          </a:xfrm>
          <a:prstGeom prst="line">
            <a:avLst/>
          </a:prstGeom>
          <a:noFill/>
          <a:ln w="12700">
            <a:solidFill>
              <a:srgbClr val="E7EAED"/>
            </a:solidFill>
            <a:prstDash val="solid"/>
            <a:headEnd type="none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10323576" y="2834640"/>
            <a:ext cx="566928" cy="566928"/>
          </a:xfrm>
          <a:prstGeom prst="ellipse">
            <a:avLst/>
          </a:prstGeom>
          <a:solidFill>
            <a:srgbClr val="F7931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524744" y="2971800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10186416" y="35478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Terminee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3977640" y="4599432"/>
            <a:ext cx="4251960" cy="402336"/>
          </a:xfrm>
          <a:prstGeom prst="roundRect">
            <a:avLst>
              <a:gd name="adj" fmla="val 18182"/>
            </a:avLst>
          </a:prstGeom>
          <a:solidFill>
            <a:srgbClr val="1F9D73"/>
          </a:solidFill>
          <a:ln w="12700">
            <a:solidFill>
              <a:srgbClr val="1F9D7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105656" y="4709160"/>
            <a:ext cx="3995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Etape 6 : le devis valide declenche les commissions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18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 w="12700">
            <a:solidFill>
              <a:srgbClr val="FF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235440" y="-1143000"/>
            <a:ext cx="3840480" cy="3840480"/>
          </a:xfrm>
          <a:prstGeom prst="arc">
            <a:avLst/>
          </a:prstGeom>
          <a:solidFill>
            <a:srgbClr val="F7931E">
              <a:alpha val="18000"/>
            </a:srgbClr>
          </a:solidFill>
          <a:ln w="12700">
            <a:solidFill>
              <a:srgbClr val="F793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600000">
            <a:off x="-914400" y="5166360"/>
            <a:ext cx="2926080" cy="2926080"/>
          </a:xfrm>
          <a:prstGeom prst="arc">
            <a:avLst/>
          </a:prstGeom>
          <a:solidFill>
            <a:srgbClr val="FF6B35">
              <a:alpha val="14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pic>
        <p:nvPicPr>
          <p:cNvPr id="5" name="Image 0" descr="/Users/steph/PROJETS/WINELIO/winelio/public/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COMPLEMENT DE REVENU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D34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potentiel vient de la repetition de petites opportunites reelles.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868680" y="233172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6B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reco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868680" y="282549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dossier suivi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657600" y="233172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93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a 5 reco/mois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3657600" y="282549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rythme accessible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46520" y="233172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C7B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 pros actifs</a:t>
            </a:r>
            <a:endParaRPr lang="en-US" sz="2900" dirty="0"/>
          </a:p>
        </p:txBody>
      </p:sp>
      <p:sp>
        <p:nvSpPr>
          <p:cNvPr id="13" name="Text 10"/>
          <p:cNvSpPr/>
          <p:nvPr/>
        </p:nvSpPr>
        <p:spPr>
          <a:xfrm>
            <a:off x="6446520" y="282549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 de transformation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235440" y="233172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9D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reseau</a:t>
            </a:r>
            <a:endParaRPr lang="en-US" sz="2900" dirty="0"/>
          </a:p>
        </p:txBody>
      </p:sp>
      <p:sp>
        <p:nvSpPr>
          <p:cNvPr id="15" name="Text 12"/>
          <p:cNvSpPr/>
          <p:nvPr/>
        </p:nvSpPr>
        <p:spPr>
          <a:xfrm>
            <a:off x="9235440" y="282549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effet cumulatif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60120" y="48920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promesse n'est pas de devenir riche sans rien faire. L'opportunite, c'est d'etre remunere quand on cree une vraie mise en relation utile.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18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 w="12700">
            <a:solidFill>
              <a:srgbClr val="FF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235440" y="-1143000"/>
            <a:ext cx="3840480" cy="3840480"/>
          </a:xfrm>
          <a:prstGeom prst="arc">
            <a:avLst/>
          </a:prstGeom>
          <a:solidFill>
            <a:srgbClr val="F7931E">
              <a:alpha val="18000"/>
            </a:srgbClr>
          </a:solidFill>
          <a:ln w="12700">
            <a:solidFill>
              <a:srgbClr val="F793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600000">
            <a:off x="-914400" y="5166360"/>
            <a:ext cx="2926080" cy="2926080"/>
          </a:xfrm>
          <a:prstGeom prst="arc">
            <a:avLst/>
          </a:prstGeom>
          <a:solidFill>
            <a:srgbClr val="FF6B35">
              <a:alpha val="14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pic>
        <p:nvPicPr>
          <p:cNvPr id="5" name="Image 0" descr="/Users/steph/PROJETS/WINELIO/winelio/public/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REPARTITION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D34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Quand une affaire est validee, la valeur est partagee selon des regles claires.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868680" y="190195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Parrain direct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46120" y="1856232"/>
            <a:ext cx="5166360" cy="310896"/>
          </a:xfrm>
          <a:prstGeom prst="rect">
            <a:avLst/>
          </a:prstGeom>
          <a:solidFill>
            <a:srgbClr val="F0F2F4"/>
          </a:solidFill>
          <a:ln w="12700">
            <a:solidFill>
              <a:srgbClr val="F0F2F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46120" y="1856232"/>
            <a:ext cx="5166360" cy="31089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32520" y="190195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60%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261518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Reseau niv. 1-5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246120" y="2569464"/>
            <a:ext cx="5166360" cy="310896"/>
          </a:xfrm>
          <a:prstGeom prst="rect">
            <a:avLst/>
          </a:prstGeom>
          <a:solidFill>
            <a:srgbClr val="F0F2F4"/>
          </a:solidFill>
          <a:ln w="12700">
            <a:solidFill>
              <a:srgbClr val="F0F2F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2569464"/>
            <a:ext cx="1291590" cy="310896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32520" y="2615184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68680" y="332841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Bonus pro + Wins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246120" y="3282696"/>
            <a:ext cx="5166360" cy="310896"/>
          </a:xfrm>
          <a:prstGeom prst="rect">
            <a:avLst/>
          </a:prstGeom>
          <a:solidFill>
            <a:srgbClr val="F0F2F4"/>
          </a:solidFill>
          <a:ln w="12700">
            <a:solidFill>
              <a:srgbClr val="F0F2F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46120" y="3282696"/>
            <a:ext cx="172212" cy="310896"/>
          </a:xfrm>
          <a:prstGeom prst="rect">
            <a:avLst/>
          </a:prstGeom>
          <a:solidFill>
            <a:srgbClr val="1F9D73"/>
          </a:solidFill>
          <a:ln w="12700">
            <a:solidFill>
              <a:srgbClr val="1F9D7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32520" y="3328416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2%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68680" y="404164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Plateforme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246120" y="3995928"/>
            <a:ext cx="5166360" cy="310896"/>
          </a:xfrm>
          <a:prstGeom prst="rect">
            <a:avLst/>
          </a:prstGeom>
          <a:solidFill>
            <a:srgbClr val="F0F2F4"/>
          </a:solidFill>
          <a:ln w="12700">
            <a:solidFill>
              <a:srgbClr val="F0F2F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46120" y="3995928"/>
            <a:ext cx="1980438" cy="310896"/>
          </a:xfrm>
          <a:prstGeom prst="rect">
            <a:avLst/>
          </a:prstGeom>
          <a:solidFill>
            <a:srgbClr val="636E72"/>
          </a:solidFill>
          <a:ln w="12700">
            <a:solidFill>
              <a:srgbClr val="636E7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32520" y="404164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23%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555480" y="1883664"/>
            <a:ext cx="1417320" cy="2468880"/>
          </a:xfrm>
          <a:prstGeom prst="roundRect">
            <a:avLst>
              <a:gd name="adj" fmla="val 3871"/>
            </a:avLst>
          </a:prstGeom>
          <a:solidFill>
            <a:srgbClr val="FFF5F0"/>
          </a:solidFill>
          <a:ln w="10160">
            <a:solidFill>
              <a:srgbClr val="FFD3C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784080" y="22128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Reseau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765792" y="269748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3% par niveau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9765792" y="3218688"/>
            <a:ext cx="950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soit 15% au total sur 5 niveaux.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18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 w="12700">
            <a:solidFill>
              <a:srgbClr val="FF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235440" y="-1143000"/>
            <a:ext cx="3840480" cy="3840480"/>
          </a:xfrm>
          <a:prstGeom prst="arc">
            <a:avLst/>
          </a:prstGeom>
          <a:solidFill>
            <a:srgbClr val="F7931E">
              <a:alpha val="18000"/>
            </a:srgbClr>
          </a:solidFill>
          <a:ln w="12700">
            <a:solidFill>
              <a:srgbClr val="F793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600000">
            <a:off x="-914400" y="5166360"/>
            <a:ext cx="2926080" cy="2926080"/>
          </a:xfrm>
          <a:prstGeom prst="arc">
            <a:avLst/>
          </a:prstGeom>
          <a:solidFill>
            <a:srgbClr val="FF6B35">
              <a:alpha val="14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pic>
        <p:nvPicPr>
          <p:cNvPr id="5" name="Image 0" descr="/Users/steph/PROJETS/WINELIO/winelio/public/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RESEAU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D34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 commence par recommander, puis on peut aider d'autres personnes a recommander.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868680" y="1965960"/>
            <a:ext cx="146304" cy="60350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07008" y="198424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Moi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761488" y="20299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 recommande directement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863840" y="1947672"/>
            <a:ext cx="1417320" cy="402336"/>
          </a:xfrm>
          <a:prstGeom prst="roundRect">
            <a:avLst>
              <a:gd name="adj" fmla="val 13636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28432" y="206654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60%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68680" y="2926080"/>
            <a:ext cx="146304" cy="603504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07008" y="294436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Niveau 1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761488" y="299008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J'aide quelqu'un a demarrer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863840" y="2907792"/>
            <a:ext cx="1417320" cy="402336"/>
          </a:xfrm>
          <a:prstGeom prst="roundRect">
            <a:avLst>
              <a:gd name="adj" fmla="val 13636"/>
            </a:avLst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28432" y="302666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3%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68680" y="3886200"/>
            <a:ext cx="146304" cy="603504"/>
          </a:xfrm>
          <a:prstGeom prst="rect">
            <a:avLst/>
          </a:prstGeom>
          <a:solidFill>
            <a:srgbClr val="636E72"/>
          </a:solidFill>
          <a:ln w="12700">
            <a:solidFill>
              <a:srgbClr val="636E7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07008" y="390448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Niveaux 2-5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2761488" y="39502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reseau continue de se developper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863840" y="3867912"/>
            <a:ext cx="1417320" cy="402336"/>
          </a:xfrm>
          <a:prstGeom prst="roundRect">
            <a:avLst>
              <a:gd name="adj" fmla="val 13636"/>
            </a:avLst>
          </a:prstGeom>
          <a:solidFill>
            <a:srgbClr val="636E72"/>
          </a:solidFill>
          <a:ln w="12700">
            <a:solidFill>
              <a:srgbClr val="636E7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28432" y="398678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3% / niveau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14400" y="519379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logique est progressive : d'abord comprendre, ensuite recommander, puis transmettre la methode.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18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 w="12700">
            <a:solidFill>
              <a:srgbClr val="FF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235440" y="-1143000"/>
            <a:ext cx="3840480" cy="3840480"/>
          </a:xfrm>
          <a:prstGeom prst="arc">
            <a:avLst/>
          </a:prstGeom>
          <a:solidFill>
            <a:srgbClr val="F7931E">
              <a:alpha val="18000"/>
            </a:srgbClr>
          </a:solidFill>
          <a:ln w="12700">
            <a:solidFill>
              <a:srgbClr val="F793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600000">
            <a:off x="-914400" y="5166360"/>
            <a:ext cx="2926080" cy="2926080"/>
          </a:xfrm>
          <a:prstGeom prst="arc">
            <a:avLst/>
          </a:prstGeom>
          <a:solidFill>
            <a:srgbClr val="FF6B35">
              <a:alpha val="14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pic>
        <p:nvPicPr>
          <p:cNvPr id="5" name="Image 0" descr="/Users/steph/PROJETS/WINELIO/winelio/public/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D34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exemple prudent montre comment les revenus peuvent se construire.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713232" y="1847088"/>
            <a:ext cx="233172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20665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Commission moyenne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32688" y="2377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EUR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502152" y="1847088"/>
            <a:ext cx="233172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21608" y="20665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Recommandations validees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721608" y="2377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mois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91072" y="1847088"/>
            <a:ext cx="233172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10528" y="20665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Parrain direct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510528" y="2377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60%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079992" y="1847088"/>
            <a:ext cx="233172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299448" y="20665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Reseau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299448" y="2377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3% / niveau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960120" y="374904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FFF5F0"/>
          </a:solidFill>
          <a:ln w="10160">
            <a:solidFill>
              <a:srgbClr val="FFD3C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34440" y="39867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180 EUR</a:t>
            </a:r>
            <a:endParaRPr lang="en-US" sz="2300" dirty="0"/>
          </a:p>
        </p:txBody>
      </p:sp>
      <p:sp>
        <p:nvSpPr>
          <p:cNvPr id="22" name="Text 19"/>
          <p:cNvSpPr/>
          <p:nvPr/>
        </p:nvSpPr>
        <p:spPr>
          <a:xfrm>
            <a:off x="2606040" y="40416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 : 3 affaires directes validees dans le mois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806440" y="374904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80760" y="39867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79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variable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680960" y="40416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le reseau est actif et qualifie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2194560" y="525780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simulateur sert a tester des hypotheses, pas a promettre un resultat.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18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436"/>
          </a:solidFill>
          <a:ln w="12700">
            <a:solidFill>
              <a:srgbClr val="2D34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0584"/>
            <a:ext cx="12191695" cy="45720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pic>
        <p:nvPicPr>
          <p:cNvPr id="5" name="Image 0" descr="/Users/steph/PROJETS/WINELIO/winelio/public/logo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79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LIVE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Ouvrir le simulateur de gains et changer les valeurs en direct.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822960" y="2148840"/>
            <a:ext cx="47548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24231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montrer a l'ecran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Simulateur de gains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143000" y="3310128"/>
            <a:ext cx="379476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Valeurs modifiables : affaires/mois, commission moyenne, activite du reseau, niveaux actifs.</a:t>
            </a:r>
            <a:endParaRPr lang="en-US" sz="1400" dirty="0"/>
          </a:p>
        </p:txBody>
      </p:sp>
      <p:sp>
        <p:nvSpPr>
          <p:cNvPr id="12" name="Text 9">
            <a:hlinkClick r:id="rId2" tooltip=""/>
          </p:cNvPr>
          <p:cNvSpPr/>
          <p:nvPr/>
        </p:nvSpPr>
        <p:spPr>
          <a:xfrm>
            <a:off x="6812280" y="2743200"/>
            <a:ext cx="2331720" cy="438912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Ouvrir la page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537960" y="340156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ED6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Lien prevu : dev2.winelio.app/simulateur-gains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ED6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18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 w="12700">
            <a:solidFill>
              <a:srgbClr val="FF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235440" y="-1143000"/>
            <a:ext cx="3840480" cy="3840480"/>
          </a:xfrm>
          <a:prstGeom prst="arc">
            <a:avLst/>
          </a:prstGeom>
          <a:solidFill>
            <a:srgbClr val="F7931E">
              <a:alpha val="18000"/>
            </a:srgbClr>
          </a:solidFill>
          <a:ln w="12700">
            <a:solidFill>
              <a:srgbClr val="F793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600000">
            <a:off x="-914400" y="5166360"/>
            <a:ext cx="2926080" cy="2926080"/>
          </a:xfrm>
          <a:prstGeom prst="arc">
            <a:avLst/>
          </a:prstGeom>
          <a:solidFill>
            <a:srgbClr val="FF6B35">
              <a:alpha val="14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pic>
        <p:nvPicPr>
          <p:cNvPr id="5" name="Image 0" descr="/Users/steph/PROJETS/WINELIO/winelio/public/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QUI COMPTE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D34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meilleurs resultats viennent de recommandations qualifiees.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777240" y="1920240"/>
            <a:ext cx="109728" cy="7498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69848" y="19568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Besoin reel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69848" y="23134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personne a un projet concret.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897880" y="1920240"/>
            <a:ext cx="109728" cy="749808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90488" y="19568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 fiable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190488" y="23134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professionnel est serieux et disponible.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77240" y="3246120"/>
            <a:ext cx="109728" cy="749808"/>
          </a:xfrm>
          <a:prstGeom prst="rect">
            <a:avLst/>
          </a:prstGeom>
          <a:solidFill>
            <a:srgbClr val="1F9D73"/>
          </a:solidFill>
          <a:ln w="12700">
            <a:solidFill>
              <a:srgbClr val="1F9D7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9848" y="32826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Suivi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69848" y="36393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dossier avance dans les etapes.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897880" y="3246120"/>
            <a:ext cx="109728" cy="749808"/>
          </a:xfrm>
          <a:prstGeom prst="rect">
            <a:avLst/>
          </a:prstGeom>
          <a:solidFill>
            <a:srgbClr val="2C7BE5"/>
          </a:solidFill>
          <a:ln w="12700">
            <a:solidFill>
              <a:srgbClr val="2C7B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90488" y="32826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Confiance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190488" y="36393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parrain reste dans une relation propre.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18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 w="12700">
            <a:solidFill>
              <a:srgbClr val="FF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235440" y="-1143000"/>
            <a:ext cx="3840480" cy="3840480"/>
          </a:xfrm>
          <a:prstGeom prst="arc">
            <a:avLst/>
          </a:prstGeom>
          <a:solidFill>
            <a:srgbClr val="F7931E">
              <a:alpha val="18000"/>
            </a:srgbClr>
          </a:solidFill>
          <a:ln w="12700">
            <a:solidFill>
              <a:srgbClr val="F793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600000">
            <a:off x="-914400" y="5166360"/>
            <a:ext cx="2926080" cy="2926080"/>
          </a:xfrm>
          <a:prstGeom prst="arc">
            <a:avLst/>
          </a:prstGeom>
          <a:solidFill>
            <a:srgbClr val="FF6B35">
              <a:alpha val="14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pic>
        <p:nvPicPr>
          <p:cNvPr id="5" name="Image 0" descr="/Users/steph/PROJETS/WINELIO/winelio/public/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COTE PROFESSIONNEL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D34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pro ne paie pas une promesse : il remunere une opportunite qui avance.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914400" y="242316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78992" y="276148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Besoin qualifie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14400" y="3401568"/>
            <a:ext cx="196596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44368" y="2889504"/>
            <a:ext cx="393192" cy="0"/>
          </a:xfrm>
          <a:prstGeom prst="line">
            <a:avLst/>
          </a:prstGeom>
          <a:noFill/>
          <a:ln w="15240">
            <a:solidFill>
              <a:srgbClr val="E7EAED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520440" y="242316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85032" y="276148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520440" y="3401568"/>
            <a:ext cx="1965960" cy="73152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50408" y="2889504"/>
            <a:ext cx="393192" cy="0"/>
          </a:xfrm>
          <a:prstGeom prst="line">
            <a:avLst/>
          </a:prstGeom>
          <a:noFill/>
          <a:ln w="15240">
            <a:solidFill>
              <a:srgbClr val="E7EAED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126480" y="242316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91072" y="276148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126480" y="3401568"/>
            <a:ext cx="1965960" cy="73152"/>
          </a:xfrm>
          <a:prstGeom prst="rect">
            <a:avLst/>
          </a:prstGeom>
          <a:solidFill>
            <a:srgbClr val="2C7BE5"/>
          </a:solidFill>
          <a:ln w="12700">
            <a:solidFill>
              <a:srgbClr val="2C7B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156448" y="2889504"/>
            <a:ext cx="393192" cy="0"/>
          </a:xfrm>
          <a:prstGeom prst="line">
            <a:avLst/>
          </a:prstGeom>
          <a:noFill/>
          <a:ln w="15240">
            <a:solidFill>
              <a:srgbClr val="E7EAED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8732520" y="242316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97112" y="276148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Affaire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732520" y="3401568"/>
            <a:ext cx="1965960" cy="73152"/>
          </a:xfrm>
          <a:prstGeom prst="rect">
            <a:avLst/>
          </a:prstGeom>
          <a:solidFill>
            <a:srgbClr val="1F9D73"/>
          </a:solidFill>
          <a:ln w="12700">
            <a:solidFill>
              <a:srgbClr val="1F9D7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97280" y="4800600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 un professionnel, Winelio est interessant quand il veut des recommandations mieux qualifiees que de simples contacts froids.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18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 w="12700">
            <a:solidFill>
              <a:srgbClr val="FF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235440" y="-1143000"/>
            <a:ext cx="3840480" cy="3840480"/>
          </a:xfrm>
          <a:prstGeom prst="arc">
            <a:avLst/>
          </a:prstGeom>
          <a:solidFill>
            <a:srgbClr val="F7931E">
              <a:alpha val="18000"/>
            </a:srgbClr>
          </a:solidFill>
          <a:ln w="12700">
            <a:solidFill>
              <a:srgbClr val="F793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600000">
            <a:off x="-914400" y="5166360"/>
            <a:ext cx="2926080" cy="2926080"/>
          </a:xfrm>
          <a:prstGeom prst="arc">
            <a:avLst/>
          </a:prstGeom>
          <a:solidFill>
            <a:srgbClr val="FF6B35">
              <a:alpha val="14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pic>
        <p:nvPicPr>
          <p:cNvPr id="5" name="Image 0" descr="/Users/steph/PROJETS/WINELIO/winelio/public/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COTE PARRAIN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D34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parrain garde une vision simple de son activite.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777240" y="1901952"/>
            <a:ext cx="2834640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3272" y="221284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Tableau de bord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33272" y="28163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051560" y="34930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recommandations en cours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43400" y="1901952"/>
            <a:ext cx="2834640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99432" y="221284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 dossiers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99432" y="28163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7B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etapes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4617720" y="34930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 contact a l'affaire terminee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909560" y="1901952"/>
            <a:ext cx="2834640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65592" y="221284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 reseau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165592" y="28163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9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niv.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8183880" y="34930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 progressive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18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 w="12700">
            <a:solidFill>
              <a:srgbClr val="FF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235440" y="-1143000"/>
            <a:ext cx="3840480" cy="3840480"/>
          </a:xfrm>
          <a:prstGeom prst="arc">
            <a:avLst/>
          </a:prstGeom>
          <a:solidFill>
            <a:srgbClr val="F7931E">
              <a:alpha val="18000"/>
            </a:srgbClr>
          </a:solidFill>
          <a:ln w="12700">
            <a:solidFill>
              <a:srgbClr val="F793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600000">
            <a:off x="-914400" y="5166360"/>
            <a:ext cx="2926080" cy="2926080"/>
          </a:xfrm>
          <a:prstGeom prst="arc">
            <a:avLst/>
          </a:prstGeom>
          <a:solidFill>
            <a:srgbClr val="FF6B35">
              <a:alpha val="14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pic>
        <p:nvPicPr>
          <p:cNvPr id="5" name="Image 0" descr="/Users/steph/PROJETS/WINELIO/winelio/public/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DEMARRAGE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D34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 commencer, il faut un parrain et un code valide.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1280160" y="2103120"/>
            <a:ext cx="658368" cy="6583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27048" y="2267712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30175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Demander le QR code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34472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 parrain present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069080" y="2103120"/>
            <a:ext cx="658368" cy="658368"/>
          </a:xfrm>
          <a:prstGeom prst="ellipse">
            <a:avLst/>
          </a:prstGeom>
          <a:solidFill>
            <a:srgbClr val="F793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15968" y="2267712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566160" y="30175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S'inscrire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566160" y="34472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avec le lien de parrainage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858000" y="2103120"/>
            <a:ext cx="658368" cy="658368"/>
          </a:xfrm>
          <a:prstGeom prst="ellipse">
            <a:avLst/>
          </a:prstGeom>
          <a:solidFill>
            <a:srgbClr val="F793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04888" y="2267712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355080" y="30175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Comprendre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55080" y="34472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premieres recommandations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646920" y="2103120"/>
            <a:ext cx="658368" cy="658368"/>
          </a:xfrm>
          <a:prstGeom prst="ellipse">
            <a:avLst/>
          </a:prstGeom>
          <a:solidFill>
            <a:srgbClr val="F793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93808" y="2267712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144000" y="30175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144000" y="34472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 son cercle naturel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2057400" y="498348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: le QR code d'un affilie ne doit pas etre projete a toute la salle.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18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 w="12700">
            <a:solidFill>
              <a:srgbClr val="FF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235440" y="-1143000"/>
            <a:ext cx="3840480" cy="3840480"/>
          </a:xfrm>
          <a:prstGeom prst="arc">
            <a:avLst/>
          </a:prstGeom>
          <a:solidFill>
            <a:srgbClr val="F7931E">
              <a:alpha val="18000"/>
            </a:srgbClr>
          </a:solidFill>
          <a:ln w="12700">
            <a:solidFill>
              <a:srgbClr val="F793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600000">
            <a:off x="-914400" y="5166360"/>
            <a:ext cx="2926080" cy="2926080"/>
          </a:xfrm>
          <a:prstGeom prst="arc">
            <a:avLst/>
          </a:prstGeom>
          <a:solidFill>
            <a:srgbClr val="FF6B35">
              <a:alpha val="14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pic>
        <p:nvPicPr>
          <p:cNvPr id="5" name="Image 0" descr="/Users/steph/PROJETS/WINELIO/winelio/public/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RETENIR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D34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Winelio est une methode simple pour transformer la confiance en opportunite suivie.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960120" y="1874520"/>
            <a:ext cx="384048" cy="3840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1979676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572768" y="192938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 recommande mieux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960120" y="2624328"/>
            <a:ext cx="384048" cy="3840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729484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572768" y="267919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 suis le dossier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60120" y="3374136"/>
            <a:ext cx="384048" cy="3840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7280" y="3479292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572768" y="34290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 peux etre recompense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960120" y="4123944"/>
            <a:ext cx="384048" cy="3840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97280" y="4229100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572768" y="417880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 peux transmettre la methode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766560" y="1965960"/>
            <a:ext cx="3474720" cy="2377440"/>
          </a:xfrm>
          <a:prstGeom prst="roundRect">
            <a:avLst>
              <a:gd name="adj" fmla="val 2308"/>
            </a:avLst>
          </a:prstGeom>
          <a:solidFill>
            <a:srgbClr val="FFF5F0"/>
          </a:solidFill>
          <a:ln w="10160">
            <a:solidFill>
              <a:srgbClr val="FFD3C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8660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bon reflexe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086600" y="2788920"/>
            <a:ext cx="265176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Commencer par 2 ou 3 recommandations de qualite, puis apprendre a expliquer le systeme.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/ 18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436"/>
          </a:solidFill>
          <a:ln w="12700">
            <a:solidFill>
              <a:srgbClr val="2D34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0584"/>
            <a:ext cx="12191695" cy="45720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pic>
        <p:nvPicPr>
          <p:cNvPr id="5" name="Image 0" descr="/Users/steph/PROJETS/WINELIO/winelio/public/logo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1536192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Inscrivez-vous des maintenant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749808" y="2395728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F2F4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Demandez le QR code de parrainage a la personne qui vous invite.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786384" y="3337560"/>
            <a:ext cx="3886200" cy="640080"/>
          </a:xfrm>
          <a:prstGeom prst="roundRect">
            <a:avLst>
              <a:gd name="adj" fmla="val 11429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15568" y="3575304"/>
            <a:ext cx="3246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 de QR code projete a l'ecran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366760" y="1664208"/>
            <a:ext cx="1143000" cy="1508760"/>
          </a:xfrm>
          <a:prstGeom prst="chevro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71432" y="2322576"/>
            <a:ext cx="1143000" cy="1508760"/>
          </a:xfrm>
          <a:prstGeom prst="chevron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948672" y="2980944"/>
            <a:ext cx="1143000" cy="1508760"/>
          </a:xfrm>
          <a:prstGeom prst="chevron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ED6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/ 18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Winelio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Winelio - Presentation de decouverte</dc:title>
  <dc:subject>Presentation de decouverte Winelio</dc:subject>
  <dc:creator>Winelio</dc:creator>
  <cp:lastModifiedBy>Winelio</cp:lastModifiedBy>
  <cp:revision>1</cp:revision>
  <dcterms:created xsi:type="dcterms:W3CDTF">2026-06-04T15:07:52Z</dcterms:created>
  <dcterms:modified xsi:type="dcterms:W3CDTF">2026-06-04T15:07:52Z</dcterms:modified>
</cp:coreProperties>
</file>