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45920"/>
            <a:ext cx="365760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291840"/>
            <a:ext cx="1036289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Poppins"/>
              </a:defRPr>
            </a:pPr>
            <a:r>
              <a:t>La Plateforme de Recommandation Professionnelle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000">
                <a:solidFill>
                  <a:srgbClr val="F7931E"/>
                </a:solidFill>
                <a:latin typeface="Poppins"/>
              </a:defRPr>
            </a:pPr>
            <a:r>
              <a:t>Réseau MLM &amp; Recommandations d'Affaires de Confiance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609539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390" y="6675120"/>
            <a:ext cx="6096304" cy="182880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852160"/>
            <a:ext cx="1036289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1200">
                <a:solidFill>
                  <a:srgbClr val="636E72"/>
                </a:solidFill>
                <a:latin typeface="Poppins"/>
              </a:defRPr>
            </a:pPr>
            <a:r>
              <a:t>Présentation de l'Application — Juin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Poppins"/>
              </a:defRPr>
            </a:pPr>
            <a:r>
              <a:t>Une nouvelle façon de connecter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F6B35"/>
                </a:solidFill>
                <a:latin typeface="Poppins"/>
              </a:defRPr>
            </a:pPr>
            <a:r>
              <a:t>La Recommandation Simplifiée</a:t>
            </a:r>
          </a:p>
          <a:p>
            <a:pPr>
              <a:spcAft>
                <a:spcPts val="1200"/>
              </a:spcAft>
              <a:defRPr sz="1500">
                <a:solidFill>
                  <a:srgbClr val="3D4A52"/>
                </a:solidFill>
                <a:latin typeface="Poppins"/>
              </a:defRPr>
            </a:pPr>
            <a:r>
              <a:t>• Mise en relation de confiance entre particuliers et professionnels certifiés.</a:t>
            </a:r>
          </a:p>
          <a:p>
            <a:pPr>
              <a:spcAft>
                <a:spcPts val="1200"/>
              </a:spcAft>
              <a:defRPr sz="1500">
                <a:solidFill>
                  <a:srgbClr val="3D4A52"/>
                </a:solidFill>
                <a:latin typeface="Poppins"/>
              </a:defRPr>
            </a:pPr>
            <a:r>
              <a:t>• Suivi transparent des dossiers à travers un workflow structuré en 8 étapes.</a:t>
            </a:r>
          </a:p>
          <a:p>
            <a:pPr>
              <a:spcAft>
                <a:spcPts val="1200"/>
              </a:spcAft>
              <a:defRPr sz="1500">
                <a:solidFill>
                  <a:srgbClr val="3D4A52"/>
                </a:solidFill>
                <a:latin typeface="Poppins"/>
              </a:defRPr>
            </a:pPr>
            <a:r>
              <a:t>• Une application moderne disponible sur mobile et desktop pour un suivi en temps réel.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F7931E"/>
                </a:solidFill>
                <a:latin typeface="Poppins"/>
              </a:defRPr>
            </a:pPr>
            <a:r>
              <a:t>La Puissance du MLM</a:t>
            </a:r>
          </a:p>
          <a:p>
            <a:pPr>
              <a:spcAft>
                <a:spcPts val="1200"/>
              </a:spcAft>
              <a:defRPr sz="1500">
                <a:solidFill>
                  <a:srgbClr val="3D4A52"/>
                </a:solidFill>
                <a:latin typeface="Poppins"/>
              </a:defRPr>
            </a:pPr>
            <a:r>
              <a:t>• Inscription par code de parrainage obligatoire pour garantir la qualité du réseau.</a:t>
            </a:r>
          </a:p>
          <a:p>
            <a:pPr>
              <a:spcAft>
                <a:spcPts val="1200"/>
              </a:spcAft>
              <a:defRPr sz="1500">
                <a:solidFill>
                  <a:srgbClr val="3D4A52"/>
                </a:solidFill>
                <a:latin typeface="Poppins"/>
              </a:defRPr>
            </a:pPr>
            <a:r>
              <a:t>• Structure de récompense sur 5 niveaux d'affiliation directs et indirects.</a:t>
            </a:r>
          </a:p>
          <a:p>
            <a:pPr>
              <a:spcAft>
                <a:spcPts val="1200"/>
              </a:spcAft>
              <a:defRPr sz="1500">
                <a:solidFill>
                  <a:srgbClr val="3D4A52"/>
                </a:solidFill>
                <a:latin typeface="Poppins"/>
              </a:defRPr>
            </a:pPr>
            <a:r>
              <a:t>• Rémunération équitable basée sur la réussite réelle des projets de recommandation.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>
                <a:solidFill>
                  <a:srgbClr val="636E72"/>
                </a:solidFill>
                <a:latin typeface="Poppins"/>
              </a:defRPr>
            </a:pPr>
            <a:r>
              <a:t>Winelio App  |  Recommandez. Connectez. Développez.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73152" cy="27432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144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6B35"/>
                </a:solidFill>
                <a:latin typeface="Poppins"/>
              </a:defRPr>
            </a:pPr>
            <a:r>
              <a:t>PARTIE II</a:t>
            </a:r>
          </a:p>
          <a:p>
            <a:pPr>
              <a:spcAft>
                <a:spcPts val="1600"/>
              </a:spcAft>
              <a:defRPr sz="3600" b="1">
                <a:solidFill>
                  <a:srgbClr val="FFFFFF"/>
                </a:solidFill>
                <a:latin typeface="Poppins"/>
              </a:defRPr>
            </a:pPr>
            <a:r>
              <a:t>Le Modèle MLM &amp;</a:t>
            </a:r>
            <a:br/>
            <a:r>
              <a:t>Le Plan de Commissionnement</a:t>
            </a:r>
          </a:p>
          <a:p>
            <a:pPr>
              <a:defRPr sz="1600">
                <a:solidFill>
                  <a:srgbClr val="636E72"/>
                </a:solidFill>
                <a:latin typeface="Poppins"/>
              </a:defRPr>
            </a:pPr>
            <a:r>
              <a:t>Découvrez comment l'application rémunère son réseau d'apporteurs d'affaires sur 5 niveaux.</a:t>
            </a:r>
          </a:p>
        </p:txBody>
      </p:sp>
      <p:pic>
        <p:nvPicPr>
          <p:cNvPr id="4" name="Picture 3" descr="winelio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Poppins"/>
              </a:defRPr>
            </a:pPr>
            <a:r>
              <a:t>Distribution d'une Commission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2779776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636E72"/>
                </a:solidFill>
                <a:latin typeface="Poppins"/>
              </a:defRPr>
            </a:pPr>
            <a:r>
              <a:t>L'APPORTEUR</a:t>
            </a:r>
          </a:p>
          <a:p>
            <a:pPr>
              <a:spcAft>
                <a:spcPts val="1200"/>
              </a:spcAft>
              <a:defRPr sz="4400" b="1">
                <a:solidFill>
                  <a:srgbClr val="FF6B35"/>
                </a:solidFill>
                <a:latin typeface="Poppins"/>
              </a:defRPr>
            </a:pPr>
            <a:r>
              <a:t>60%</a:t>
            </a:r>
          </a:p>
          <a:p>
            <a:pPr>
              <a:spcAft>
                <a:spcPts val="800"/>
              </a:spcAft>
              <a:defRPr sz="1200">
                <a:solidFill>
                  <a:srgbClr val="3D4A52"/>
                </a:solidFill>
                <a:latin typeface="Poppins"/>
              </a:defRPr>
            </a:pPr>
            <a:r>
              <a:t>• Reçoit la part majoritaire de la commission d'apport d'affaires.</a:t>
            </a:r>
          </a:p>
          <a:p>
            <a:pPr>
              <a:spcAft>
                <a:spcPts val="800"/>
              </a:spcAft>
              <a:defRPr sz="1200">
                <a:solidFill>
                  <a:srgbClr val="3D4A52"/>
                </a:solidFill>
                <a:latin typeface="Poppins"/>
              </a:defRPr>
            </a:pPr>
            <a:r>
              <a:t>• Rôle actif dans la mise en relation et l'initialisation du contact.</a:t>
            </a:r>
          </a:p>
          <a:p>
            <a:pPr>
              <a:spcAft>
                <a:spcPts val="800"/>
              </a:spcAft>
              <a:defRPr sz="1200">
                <a:solidFill>
                  <a:srgbClr val="3D4A52"/>
                </a:solidFill>
                <a:latin typeface="Poppins"/>
              </a:defRPr>
            </a:pPr>
            <a:r>
              <a:t>• Gains débloqués dès la validation finale du devis par le client.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793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1920240"/>
            <a:ext cx="2779776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636E72"/>
                </a:solidFill>
                <a:latin typeface="Poppins"/>
              </a:defRPr>
            </a:pPr>
            <a:r>
              <a:t>LE RÉSEAU MLM</a:t>
            </a:r>
          </a:p>
          <a:p>
            <a:pPr>
              <a:spcAft>
                <a:spcPts val="1200"/>
              </a:spcAft>
              <a:defRPr sz="4400" b="1">
                <a:solidFill>
                  <a:srgbClr val="F7931E"/>
                </a:solidFill>
                <a:latin typeface="Poppins"/>
              </a:defRPr>
            </a:pPr>
            <a:r>
              <a:t>15% total</a:t>
            </a:r>
          </a:p>
          <a:p>
            <a:pPr>
              <a:spcAft>
                <a:spcPts val="800"/>
              </a:spcAft>
              <a:defRPr sz="1200">
                <a:solidFill>
                  <a:srgbClr val="3D4A52"/>
                </a:solidFill>
                <a:latin typeface="Poppins"/>
              </a:defRPr>
            </a:pPr>
            <a:r>
              <a:t>• Réparti sur 5 niveaux d'affiliation au-dessus du recommandeur.</a:t>
            </a:r>
          </a:p>
          <a:p>
            <a:pPr>
              <a:spcAft>
                <a:spcPts val="800"/>
              </a:spcAft>
              <a:defRPr sz="1200">
                <a:solidFill>
                  <a:srgbClr val="3D4A52"/>
                </a:solidFill>
                <a:latin typeface="Poppins"/>
              </a:defRPr>
            </a:pPr>
            <a:r>
              <a:t>• 3% de commission par niveau (Niveau 1 à Niveau 5).</a:t>
            </a:r>
          </a:p>
          <a:p>
            <a:pPr>
              <a:spcAft>
                <a:spcPts val="800"/>
              </a:spcAft>
              <a:defRPr sz="1200">
                <a:solidFill>
                  <a:srgbClr val="3D4A52"/>
                </a:solidFill>
                <a:latin typeface="Poppins"/>
              </a:defRPr>
            </a:pPr>
            <a:r>
              <a:t>• Encourage la formation, le coaching et le recrutement qualitatif.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D4A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920240"/>
            <a:ext cx="2779776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636E72"/>
                </a:solidFill>
                <a:latin typeface="Poppins"/>
              </a:defRPr>
            </a:pPr>
            <a:r>
              <a:t>PLATEFORME &amp; BONUS</a:t>
            </a:r>
          </a:p>
          <a:p>
            <a:pPr>
              <a:spcAft>
                <a:spcPts val="1200"/>
              </a:spcAft>
              <a:defRPr sz="4400" b="1">
                <a:solidFill>
                  <a:srgbClr val="3D4A52"/>
                </a:solidFill>
                <a:latin typeface="Poppins"/>
              </a:defRPr>
            </a:pPr>
            <a:r>
              <a:t>25% total</a:t>
            </a:r>
          </a:p>
          <a:p>
            <a:pPr>
              <a:spcAft>
                <a:spcPts val="800"/>
              </a:spcAft>
              <a:defRPr sz="1200">
                <a:solidFill>
                  <a:srgbClr val="3D4A52"/>
                </a:solidFill>
                <a:latin typeface="Poppins"/>
              </a:defRPr>
            </a:pPr>
            <a:r>
              <a:t>• 23% pour le fonctionnement de la plateforme Winelio.</a:t>
            </a:r>
          </a:p>
          <a:p>
            <a:pPr>
              <a:spcAft>
                <a:spcPts val="800"/>
              </a:spcAft>
              <a:defRPr sz="1200">
                <a:solidFill>
                  <a:srgbClr val="3D4A52"/>
                </a:solidFill>
                <a:latin typeface="Poppins"/>
              </a:defRPr>
            </a:pPr>
            <a:r>
              <a:t>• 1% Bonus d'affiliation pour le parrain du professionnel.</a:t>
            </a:r>
          </a:p>
          <a:p>
            <a:pPr>
              <a:spcAft>
                <a:spcPts val="800"/>
              </a:spcAft>
              <a:defRPr sz="1200">
                <a:solidFill>
                  <a:srgbClr val="3D4A52"/>
                </a:solidFill>
                <a:latin typeface="Poppins"/>
              </a:defRPr>
            </a:pPr>
            <a:r>
              <a:t>• 1% Cashback Professionnel crédité en monnaie virtuelle (Wins).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457200"/>
            <a:ext cx="1828800" cy="5029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2D3436"/>
                </a:solidFill>
                <a:latin typeface="Poppins"/>
              </a:defRPr>
            </a:pPr>
            <a:r>
              <a:t>Workflow de Recommandation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13716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2194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3436"/>
                </a:solidFill>
                <a:latin typeface="Poppins"/>
              </a:defRPr>
            </a:pPr>
            <a:r>
              <a:t>1. Recommandation reçue</a:t>
            </a:r>
          </a:p>
          <a:p>
            <a:pPr>
              <a:defRPr sz="1050">
                <a:solidFill>
                  <a:srgbClr val="636E72"/>
                </a:solidFill>
                <a:latin typeface="Poppins"/>
              </a:defRPr>
            </a:pPr>
            <a:r>
              <a:t>Le professionnel reçoit la notification d'apport d'affaires.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164592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783080"/>
            <a:ext cx="2194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3436"/>
                </a:solidFill>
                <a:latin typeface="Poppins"/>
              </a:defRPr>
            </a:pPr>
            <a:r>
              <a:t>2. Acceptée par le pro</a:t>
            </a:r>
          </a:p>
          <a:p>
            <a:pPr>
              <a:defRPr sz="1050">
                <a:solidFill>
                  <a:srgbClr val="636E72"/>
                </a:solidFill>
                <a:latin typeface="Poppins"/>
              </a:defRPr>
            </a:pPr>
            <a:r>
              <a:t>Le professionnel accepte la recommandation et prend connaissance du lead.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64592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2194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3436"/>
                </a:solidFill>
                <a:latin typeface="Poppins"/>
              </a:defRPr>
            </a:pPr>
            <a:r>
              <a:t>3. Contact établi</a:t>
            </a:r>
          </a:p>
          <a:p>
            <a:pPr>
              <a:defRPr sz="1050">
                <a:solidFill>
                  <a:srgbClr val="636E72"/>
                </a:solidFill>
                <a:latin typeface="Poppins"/>
              </a:defRPr>
            </a:pPr>
            <a:r>
              <a:t>Prise de contact initiée avec le client potentiel (prospect).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20" y="164592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1783080"/>
            <a:ext cx="2194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3436"/>
                </a:solidFill>
                <a:latin typeface="Poppins"/>
              </a:defRPr>
            </a:pPr>
            <a:r>
              <a:t>4. Rendez-vous fixé</a:t>
            </a:r>
          </a:p>
          <a:p>
            <a:pPr>
              <a:defRPr sz="1050">
                <a:solidFill>
                  <a:srgbClr val="636E72"/>
                </a:solidFill>
                <a:latin typeface="Poppins"/>
              </a:defRPr>
            </a:pPr>
            <a:r>
              <a:t>Planification d'une rencontre ou d'un appel technique pour qualifier le besoin.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74904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886200"/>
            <a:ext cx="2194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3436"/>
                </a:solidFill>
                <a:latin typeface="Poppins"/>
              </a:defRPr>
            </a:pPr>
            <a:r>
              <a:t>5. Devis soumis</a:t>
            </a:r>
          </a:p>
          <a:p>
            <a:pPr>
              <a:defRPr sz="1050">
                <a:solidFill>
                  <a:srgbClr val="636E72"/>
                </a:solidFill>
                <a:latin typeface="Poppins"/>
              </a:defRPr>
            </a:pPr>
            <a:r>
              <a:t>Étude technique effectuée et envoi officiel de la proposition tarifaire.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3749040"/>
            <a:ext cx="2468880" cy="182880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11880" y="3886200"/>
            <a:ext cx="2194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6B35"/>
                </a:solidFill>
                <a:latin typeface="Poppins"/>
              </a:defRPr>
            </a:pPr>
            <a:r>
              <a:t>6. Devis validé</a:t>
            </a:r>
          </a:p>
          <a:p>
            <a:pPr>
              <a:defRPr sz="1050">
                <a:solidFill>
                  <a:srgbClr val="636E72"/>
                </a:solidFill>
                <a:latin typeface="Poppins"/>
              </a:defRPr>
            </a:pPr>
            <a:r>
              <a:t>Signature du devis et versement de l'acompte. Déclenchement des commissions !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74904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886200"/>
            <a:ext cx="2194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3436"/>
                </a:solidFill>
                <a:latin typeface="Poppins"/>
              </a:defRPr>
            </a:pPr>
            <a:r>
              <a:t>7. Paiement reçu</a:t>
            </a:r>
          </a:p>
          <a:p>
            <a:pPr>
              <a:defRPr sz="1050">
                <a:solidFill>
                  <a:srgbClr val="636E72"/>
                </a:solidFill>
                <a:latin typeface="Poppins"/>
              </a:defRPr>
            </a:pPr>
            <a:r>
              <a:t>Règlement des prestations par le client selon l'échéancier convenu.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3749040"/>
            <a:ext cx="2468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3886200"/>
            <a:ext cx="21945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2D3436"/>
                </a:solidFill>
                <a:latin typeface="Poppins"/>
              </a:defRPr>
            </a:pPr>
            <a:r>
              <a:t>8. Affaire terminée</a:t>
            </a:r>
          </a:p>
          <a:p>
            <a:pPr>
              <a:defRPr sz="1050">
                <a:solidFill>
                  <a:srgbClr val="636E72"/>
                </a:solidFill>
                <a:latin typeface="Poppins"/>
              </a:defRPr>
            </a:pPr>
            <a:r>
              <a:t>Clôture du dossier et notation de la recommandation par les parties.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34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inelio-logo-on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6590" y="1645920"/>
            <a:ext cx="3657600" cy="1005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291840"/>
            <a:ext cx="103628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2400">
                <a:solidFill>
                  <a:srgbClr val="FFFFFF"/>
                </a:solidFill>
                <a:latin typeface="Poppins"/>
              </a:defRPr>
            </a:pPr>
            <a:r>
              <a:t>Recommandez. Connectez. </a:t>
            </a:r>
            <a:r>
              <a:rPr b="1">
                <a:solidFill>
                  <a:srgbClr val="FF6B35"/>
                </a:solidFill>
                <a:latin typeface="Poppins"/>
              </a:rPr>
              <a:t>Développez.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36289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1000"/>
              </a:spcAft>
              <a:defRPr sz="2000" b="1">
                <a:solidFill>
                  <a:srgbClr val="FFFFFF"/>
                </a:solidFill>
                <a:latin typeface="Poppins"/>
              </a:defRPr>
            </a:pPr>
            <a:r>
              <a:t>Merci pour votre attention</a:t>
            </a:r>
          </a:p>
          <a:p>
            <a:pPr algn="ctr">
              <a:defRPr sz="1400">
                <a:solidFill>
                  <a:srgbClr val="636E72"/>
                </a:solidFill>
                <a:latin typeface="Poppins"/>
              </a:defRPr>
            </a:pPr>
            <a:r>
              <a:t>Démo en direct disponible sur : dev2.winelio.app</a:t>
            </a:r>
            <a:br/>
            <a:r>
              <a:t>Contact et support : contact@aide-multimedia.fr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675120"/>
            <a:ext cx="6095390" cy="1828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390" y="6675120"/>
            <a:ext cx="6096304" cy="182880"/>
          </a:xfrm>
          <a:prstGeom prst="rect">
            <a:avLst/>
          </a:prstGeom>
          <a:solidFill>
            <a:srgbClr val="F793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